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20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837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3035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44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604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36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2237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6026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693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85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47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3284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D510AF-F9B4-4E1A-954B-380C51C6E72A}" type="datetimeFigureOut">
              <a:rPr lang="en-US" smtClean="0"/>
              <a:t>12/5/2018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1A0E3A-C0E7-4387-89CF-38DF82DC9A6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373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How to find Easy GEs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Yi Zu Tan</a:t>
            </a:r>
          </a:p>
          <a:p>
            <a:r>
              <a:rPr lang="en-US" dirty="0" smtClean="0"/>
              <a:t>Krystal Xu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43623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Motivation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4850" y="1486513"/>
            <a:ext cx="7886700" cy="2127824"/>
          </a:xfrm>
        </p:spPr>
        <p:txBody>
          <a:bodyPr>
            <a:normAutofit/>
          </a:bodyPr>
          <a:lstStyle/>
          <a:p>
            <a:r>
              <a:rPr lang="en-US" sz="2400" dirty="0" smtClean="0"/>
              <a:t>Students want to get good grades for GEs</a:t>
            </a:r>
          </a:p>
          <a:p>
            <a:pPr lvl="1"/>
            <a:r>
              <a:rPr lang="en-US" sz="2000" dirty="0" smtClean="0"/>
              <a:t>Good grades achieving a GPA of 4.0</a:t>
            </a:r>
          </a:p>
          <a:p>
            <a:r>
              <a:rPr lang="en-US" sz="2400" dirty="0" smtClean="0"/>
              <a:t>Earlier studies use Course Difficulty as an indicator</a:t>
            </a:r>
          </a:p>
          <a:p>
            <a:pPr lvl="1"/>
            <a:r>
              <a:rPr lang="en-US" sz="2000" dirty="0" smtClean="0"/>
              <a:t>Hence the term “easy GE”</a:t>
            </a:r>
            <a:endParaRPr lang="en-US" sz="2000" dirty="0"/>
          </a:p>
          <a:p>
            <a:r>
              <a:rPr lang="en-US" sz="2400" dirty="0" smtClean="0"/>
              <a:t>But good grades are also determined by other factors</a:t>
            </a:r>
          </a:p>
        </p:txBody>
      </p:sp>
      <p:sp>
        <p:nvSpPr>
          <p:cNvPr id="4" name="Oval 3"/>
          <p:cNvSpPr/>
          <p:nvPr/>
        </p:nvSpPr>
        <p:spPr>
          <a:xfrm>
            <a:off x="5231065" y="5397997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6063585" y="3957729"/>
            <a:ext cx="182880" cy="18288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6892161" y="5397997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/>
          <p:cNvCxnSpPr>
            <a:stCxn id="5" idx="4"/>
            <a:endCxn id="82" idx="0"/>
          </p:cNvCxnSpPr>
          <p:nvPr/>
        </p:nvCxnSpPr>
        <p:spPr>
          <a:xfrm>
            <a:off x="6155025" y="4140609"/>
            <a:ext cx="0" cy="63726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4" idx="7"/>
            <a:endCxn id="82" idx="3"/>
          </p:cNvCxnSpPr>
          <p:nvPr/>
        </p:nvCxnSpPr>
        <p:spPr>
          <a:xfrm flipV="1">
            <a:off x="5387163" y="4933968"/>
            <a:ext cx="703204" cy="4908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7" idx="1"/>
            <a:endCxn id="82" idx="5"/>
          </p:cNvCxnSpPr>
          <p:nvPr/>
        </p:nvCxnSpPr>
        <p:spPr>
          <a:xfrm flipH="1" flipV="1">
            <a:off x="6219683" y="4933968"/>
            <a:ext cx="699260" cy="4908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180366" y="5197049"/>
            <a:ext cx="1047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Professor Leniency</a:t>
            </a:r>
            <a:endParaRPr lang="en-US" sz="1600" b="1" dirty="0"/>
          </a:p>
        </p:txBody>
      </p:sp>
      <p:sp>
        <p:nvSpPr>
          <p:cNvPr id="36" name="TextBox 35"/>
          <p:cNvSpPr txBox="1"/>
          <p:nvPr/>
        </p:nvSpPr>
        <p:spPr>
          <a:xfrm>
            <a:off x="7097183" y="5239768"/>
            <a:ext cx="96850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Course Difficulty</a:t>
            </a:r>
            <a:endParaRPr lang="en-US" sz="1600" b="1" dirty="0"/>
          </a:p>
        </p:txBody>
      </p:sp>
      <p:sp>
        <p:nvSpPr>
          <p:cNvPr id="37" name="TextBox 36"/>
          <p:cNvSpPr txBox="1"/>
          <p:nvPr/>
        </p:nvSpPr>
        <p:spPr>
          <a:xfrm>
            <a:off x="5275712" y="3614337"/>
            <a:ext cx="18605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Student Aptitude</a:t>
            </a:r>
            <a:endParaRPr lang="en-US" sz="1600" b="1" dirty="0"/>
          </a:p>
        </p:txBody>
      </p:sp>
      <p:sp>
        <p:nvSpPr>
          <p:cNvPr id="38" name="TextBox 37"/>
          <p:cNvSpPr txBox="1"/>
          <p:nvPr/>
        </p:nvSpPr>
        <p:spPr>
          <a:xfrm>
            <a:off x="5800161" y="4981469"/>
            <a:ext cx="7243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Grade</a:t>
            </a:r>
            <a:endParaRPr lang="en-US" sz="1600" b="1" dirty="0"/>
          </a:p>
        </p:txBody>
      </p:sp>
      <p:sp>
        <p:nvSpPr>
          <p:cNvPr id="57" name="Oval 56"/>
          <p:cNvSpPr/>
          <p:nvPr/>
        </p:nvSpPr>
        <p:spPr>
          <a:xfrm>
            <a:off x="6884835" y="4430763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7066937" y="4336890"/>
            <a:ext cx="133185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Term Quarter</a:t>
            </a:r>
            <a:endParaRPr lang="en-US" sz="1600" b="1" dirty="0"/>
          </a:p>
        </p:txBody>
      </p:sp>
      <p:cxnSp>
        <p:nvCxnSpPr>
          <p:cNvPr id="59" name="Straight Arrow Connector 58"/>
          <p:cNvCxnSpPr>
            <a:stCxn id="57" idx="1"/>
            <a:endCxn id="5" idx="6"/>
          </p:cNvCxnSpPr>
          <p:nvPr/>
        </p:nvCxnSpPr>
        <p:spPr>
          <a:xfrm flipH="1" flipV="1">
            <a:off x="6246465" y="4049169"/>
            <a:ext cx="665152" cy="4083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57" idx="4"/>
            <a:endCxn id="7" idx="0"/>
          </p:cNvCxnSpPr>
          <p:nvPr/>
        </p:nvCxnSpPr>
        <p:spPr>
          <a:xfrm>
            <a:off x="6976275" y="4613643"/>
            <a:ext cx="7326" cy="7843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6063585" y="4777870"/>
            <a:ext cx="182880" cy="182880"/>
          </a:xfrm>
          <a:prstGeom prst="ellipse">
            <a:avLst/>
          </a:prstGeom>
          <a:solidFill>
            <a:srgbClr val="BDD7EE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Oval 88"/>
          <p:cNvSpPr/>
          <p:nvPr/>
        </p:nvSpPr>
        <p:spPr>
          <a:xfrm>
            <a:off x="562231" y="4580269"/>
            <a:ext cx="182880" cy="182880"/>
          </a:xfrm>
          <a:prstGeom prst="ellipse">
            <a:avLst/>
          </a:prstGeom>
          <a:solidFill>
            <a:srgbClr val="BDD7EE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761255" y="4500850"/>
            <a:ext cx="25619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What we want to predict</a:t>
            </a:r>
          </a:p>
        </p:txBody>
      </p:sp>
      <p:sp>
        <p:nvSpPr>
          <p:cNvPr id="91" name="Oval 90"/>
          <p:cNvSpPr/>
          <p:nvPr/>
        </p:nvSpPr>
        <p:spPr>
          <a:xfrm>
            <a:off x="6063585" y="5930068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/>
          <p:cNvSpPr txBox="1"/>
          <p:nvPr/>
        </p:nvSpPr>
        <p:spPr>
          <a:xfrm>
            <a:off x="5543829" y="6066570"/>
            <a:ext cx="12223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smtClean="0"/>
              <a:t>Department</a:t>
            </a:r>
            <a:endParaRPr lang="en-US" sz="1600" b="1" dirty="0"/>
          </a:p>
        </p:txBody>
      </p:sp>
      <p:sp>
        <p:nvSpPr>
          <p:cNvPr id="93" name="Oval 92"/>
          <p:cNvSpPr/>
          <p:nvPr/>
        </p:nvSpPr>
        <p:spPr>
          <a:xfrm>
            <a:off x="578375" y="5163533"/>
            <a:ext cx="182880" cy="182880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4" name="Straight Arrow Connector 93"/>
          <p:cNvCxnSpPr>
            <a:stCxn id="91" idx="7"/>
            <a:endCxn id="7" idx="3"/>
          </p:cNvCxnSpPr>
          <p:nvPr/>
        </p:nvCxnSpPr>
        <p:spPr>
          <a:xfrm flipV="1">
            <a:off x="6219683" y="5554095"/>
            <a:ext cx="699260" cy="4027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/>
          <p:cNvCxnSpPr>
            <a:stCxn id="91" idx="1"/>
            <a:endCxn id="4" idx="5"/>
          </p:cNvCxnSpPr>
          <p:nvPr/>
        </p:nvCxnSpPr>
        <p:spPr>
          <a:xfrm flipH="1" flipV="1">
            <a:off x="5387163" y="5554095"/>
            <a:ext cx="703204" cy="4027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572684" y="4875208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/>
          <p:cNvSpPr txBox="1"/>
          <p:nvPr/>
        </p:nvSpPr>
        <p:spPr>
          <a:xfrm>
            <a:off x="753055" y="4791021"/>
            <a:ext cx="29804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What we can find from our data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53055" y="5086225"/>
            <a:ext cx="322596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smtClean="0"/>
              <a:t>What we cannot find from our data</a:t>
            </a:r>
          </a:p>
        </p:txBody>
      </p:sp>
      <p:sp>
        <p:nvSpPr>
          <p:cNvPr id="118" name="Oval 117"/>
          <p:cNvSpPr/>
          <p:nvPr/>
        </p:nvSpPr>
        <p:spPr>
          <a:xfrm>
            <a:off x="5228053" y="4430763"/>
            <a:ext cx="182880" cy="182880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/>
          <p:cNvSpPr txBox="1"/>
          <p:nvPr/>
        </p:nvSpPr>
        <p:spPr>
          <a:xfrm>
            <a:off x="4189783" y="4336890"/>
            <a:ext cx="102889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Class Size</a:t>
            </a:r>
            <a:endParaRPr lang="en-US" sz="1600" b="1" dirty="0"/>
          </a:p>
        </p:txBody>
      </p:sp>
      <p:cxnSp>
        <p:nvCxnSpPr>
          <p:cNvPr id="121" name="Straight Arrow Connector 120"/>
          <p:cNvCxnSpPr>
            <a:stCxn id="118" idx="7"/>
            <a:endCxn id="5" idx="2"/>
          </p:cNvCxnSpPr>
          <p:nvPr/>
        </p:nvCxnSpPr>
        <p:spPr>
          <a:xfrm flipV="1">
            <a:off x="5384151" y="4049169"/>
            <a:ext cx="679434" cy="40837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/>
          <p:cNvCxnSpPr>
            <a:stCxn id="118" idx="4"/>
            <a:endCxn id="4" idx="0"/>
          </p:cNvCxnSpPr>
          <p:nvPr/>
        </p:nvCxnSpPr>
        <p:spPr>
          <a:xfrm>
            <a:off x="5319493" y="4613643"/>
            <a:ext cx="3012" cy="78435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4714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Exploration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Used data from Bruinwalk.com</a:t>
            </a:r>
          </a:p>
          <a:p>
            <a:r>
              <a:rPr lang="en-US" dirty="0"/>
              <a:t>Used mean GPA as numeric indicator </a:t>
            </a:r>
            <a:r>
              <a:rPr lang="en-US" dirty="0" smtClean="0"/>
              <a:t>of</a:t>
            </a:r>
          </a:p>
          <a:p>
            <a:pPr lvl="1"/>
            <a:r>
              <a:rPr lang="en-US" dirty="0" smtClean="0"/>
              <a:t>Professor Leniency</a:t>
            </a:r>
          </a:p>
          <a:p>
            <a:pPr lvl="1"/>
            <a:r>
              <a:rPr lang="en-US" dirty="0" smtClean="0"/>
              <a:t>Course Difficulty</a:t>
            </a:r>
          </a:p>
          <a:p>
            <a:r>
              <a:rPr lang="en-US" dirty="0" smtClean="0"/>
              <a:t>Important Variables</a:t>
            </a:r>
          </a:p>
          <a:p>
            <a:pPr lvl="1"/>
            <a:r>
              <a:rPr lang="en-US" dirty="0" smtClean="0"/>
              <a:t>A professor’s mean GPA</a:t>
            </a:r>
          </a:p>
          <a:p>
            <a:pPr lvl="1"/>
            <a:r>
              <a:rPr lang="en-US" dirty="0" smtClean="0"/>
              <a:t>A course’s mean GPA</a:t>
            </a:r>
          </a:p>
          <a:p>
            <a:pPr lvl="1"/>
            <a:r>
              <a:rPr lang="en-US" dirty="0" smtClean="0"/>
              <a:t>Department</a:t>
            </a:r>
          </a:p>
          <a:p>
            <a:pPr lvl="1"/>
            <a:r>
              <a:rPr lang="en-US" dirty="0" smtClean="0"/>
              <a:t>Term Quarter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039902"/>
            <a:ext cx="4000706" cy="313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114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Modeling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490472"/>
            <a:ext cx="7886700" cy="4727448"/>
          </a:xfrm>
        </p:spPr>
        <p:txBody>
          <a:bodyPr>
            <a:normAutofit/>
          </a:bodyPr>
          <a:lstStyle/>
          <a:p>
            <a:r>
              <a:rPr lang="en-US" sz="2400" dirty="0" smtClean="0"/>
              <a:t>Used % of 4.0 GPAs as outcome variable</a:t>
            </a:r>
          </a:p>
          <a:p>
            <a:pPr lvl="1"/>
            <a:r>
              <a:rPr lang="en-US" sz="2000" dirty="0" smtClean="0"/>
              <a:t>If % &gt; Q3, </a:t>
            </a:r>
            <a:r>
              <a:rPr lang="en-US" sz="2000" dirty="0" smtClean="0"/>
              <a:t>the course was “easy”</a:t>
            </a:r>
            <a:endParaRPr lang="en-US" sz="2000" dirty="0" smtClean="0"/>
          </a:p>
          <a:p>
            <a:pPr lvl="1"/>
            <a:r>
              <a:rPr lang="en-US" sz="2000" dirty="0" smtClean="0"/>
              <a:t>Otherwise, </a:t>
            </a:r>
            <a:r>
              <a:rPr lang="en-US" sz="2000" dirty="0" smtClean="0"/>
              <a:t>the course was “not easy”</a:t>
            </a:r>
            <a:endParaRPr lang="en-US" sz="2000" dirty="0" smtClean="0"/>
          </a:p>
          <a:p>
            <a:r>
              <a:rPr lang="en-US" sz="2400" dirty="0" smtClean="0"/>
              <a:t>Predictor Variables</a:t>
            </a:r>
          </a:p>
          <a:p>
            <a:pPr lvl="1"/>
            <a:r>
              <a:rPr lang="en-US" sz="2000" dirty="0" smtClean="0"/>
              <a:t>Department</a:t>
            </a:r>
          </a:p>
          <a:p>
            <a:pPr lvl="1"/>
            <a:r>
              <a:rPr lang="en-US" sz="2000" dirty="0" smtClean="0"/>
              <a:t>Professor Leniency</a:t>
            </a:r>
          </a:p>
          <a:p>
            <a:pPr lvl="1"/>
            <a:r>
              <a:rPr lang="en-US" sz="2000" dirty="0" smtClean="0"/>
              <a:t>Course Difficulty</a:t>
            </a:r>
          </a:p>
          <a:p>
            <a:pPr lvl="1"/>
            <a:r>
              <a:rPr lang="en-US" sz="2000" dirty="0" smtClean="0"/>
              <a:t>Term Quarter</a:t>
            </a:r>
          </a:p>
          <a:p>
            <a:pPr lvl="1"/>
            <a:r>
              <a:rPr lang="en-US" sz="2000" dirty="0"/>
              <a:t>Professor Frequency</a:t>
            </a:r>
          </a:p>
          <a:p>
            <a:pPr lvl="1"/>
            <a:r>
              <a:rPr lang="en-US" sz="2000" dirty="0"/>
              <a:t>Class </a:t>
            </a:r>
            <a:r>
              <a:rPr lang="en-US" sz="2000" dirty="0" smtClean="0"/>
              <a:t>Size</a:t>
            </a:r>
          </a:p>
          <a:p>
            <a:r>
              <a:rPr lang="en-US" sz="2400" dirty="0" smtClean="0"/>
              <a:t>Performed supervised </a:t>
            </a:r>
            <a:r>
              <a:rPr lang="en-US" sz="2400" dirty="0" smtClean="0"/>
              <a:t>classification using Random Forest</a:t>
            </a:r>
            <a:endParaRPr lang="en-US" sz="2400" dirty="0" smtClean="0"/>
          </a:p>
          <a:p>
            <a:pPr lvl="1"/>
            <a:r>
              <a:rPr lang="en-US" sz="2000" dirty="0" smtClean="0"/>
              <a:t>Limited GE dataset to Foundations of Scientific Inquiry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973637"/>
            <a:ext cx="5218730" cy="1961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49020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Results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Our model </a:t>
            </a:r>
            <a:r>
              <a:rPr lang="en-US" dirty="0" smtClean="0"/>
              <a:t>correctly labeled 80.53% of test cases</a:t>
            </a:r>
            <a:endParaRPr lang="en-US" dirty="0" smtClean="0"/>
          </a:p>
          <a:p>
            <a:pPr lvl="1"/>
            <a:r>
              <a:rPr lang="en-US" dirty="0" smtClean="0"/>
              <a:t>Correctly labeled 90.12% of “non-easy” science GEs</a:t>
            </a:r>
            <a:endParaRPr lang="en-US" dirty="0" smtClean="0"/>
          </a:p>
          <a:p>
            <a:pPr lvl="1"/>
            <a:r>
              <a:rPr lang="en-US" dirty="0" smtClean="0"/>
              <a:t>Correctly labeled 53.16% of “easy” science GEs</a:t>
            </a:r>
            <a:endParaRPr lang="en-US" dirty="0"/>
          </a:p>
          <a:p>
            <a:r>
              <a:rPr lang="en-US" dirty="0" smtClean="0"/>
              <a:t>Superior </a:t>
            </a:r>
            <a:r>
              <a:rPr lang="en-US" dirty="0" smtClean="0"/>
              <a:t>model that accounts for more factors</a:t>
            </a:r>
          </a:p>
          <a:p>
            <a:r>
              <a:rPr lang="en-US" dirty="0" smtClean="0"/>
              <a:t>Significance scores revealed top 3 factors:</a:t>
            </a:r>
            <a:endParaRPr lang="en-US" dirty="0" smtClean="0"/>
          </a:p>
          <a:p>
            <a:pPr lvl="1"/>
            <a:r>
              <a:rPr lang="en-US" dirty="0" smtClean="0"/>
              <a:t>Professor </a:t>
            </a:r>
            <a:r>
              <a:rPr lang="en-US" dirty="0" smtClean="0"/>
              <a:t>Leniency</a:t>
            </a:r>
          </a:p>
          <a:p>
            <a:pPr lvl="1"/>
            <a:r>
              <a:rPr lang="en-US" dirty="0" smtClean="0"/>
              <a:t>Course Difficulty</a:t>
            </a:r>
          </a:p>
          <a:p>
            <a:pPr lvl="1"/>
            <a:r>
              <a:rPr lang="en-US" dirty="0" smtClean="0"/>
              <a:t>Class Size</a:t>
            </a:r>
            <a:endParaRPr lang="en-US" dirty="0" smtClean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1" y="4132626"/>
            <a:ext cx="3639312" cy="2533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91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Research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Expanding to include all GEs</a:t>
            </a:r>
          </a:p>
          <a:p>
            <a:r>
              <a:rPr lang="en-US" dirty="0" smtClean="0"/>
              <a:t>Adding </a:t>
            </a:r>
            <a:r>
              <a:rPr lang="en-US" dirty="0" smtClean="0"/>
              <a:t>student characteristics to the model</a:t>
            </a:r>
          </a:p>
          <a:p>
            <a:pPr lvl="1"/>
            <a:r>
              <a:rPr lang="en-US" dirty="0" smtClean="0"/>
              <a:t>Student major</a:t>
            </a:r>
          </a:p>
          <a:p>
            <a:pPr lvl="1"/>
            <a:r>
              <a:rPr lang="en-US" dirty="0" smtClean="0"/>
              <a:t>Student GPA</a:t>
            </a:r>
          </a:p>
          <a:p>
            <a:pPr lvl="1"/>
            <a:r>
              <a:rPr lang="en-US" dirty="0" smtClean="0"/>
              <a:t>Student race/gender</a:t>
            </a:r>
          </a:p>
          <a:p>
            <a:pPr lvl="1"/>
            <a:r>
              <a:rPr lang="en-US" dirty="0" smtClean="0"/>
              <a:t>Student class unit load</a:t>
            </a:r>
          </a:p>
          <a:p>
            <a:r>
              <a:rPr lang="en-US" dirty="0" smtClean="0"/>
              <a:t>Model selection by adding/dropping predictors</a:t>
            </a:r>
          </a:p>
          <a:p>
            <a:r>
              <a:rPr lang="en-US" dirty="0" smtClean="0"/>
              <a:t>Verify </a:t>
            </a:r>
            <a:r>
              <a:rPr lang="en-US" dirty="0"/>
              <a:t>causal relations between the </a:t>
            </a:r>
            <a:r>
              <a:rPr lang="en-US" dirty="0" smtClean="0"/>
              <a:t>predictors</a:t>
            </a:r>
            <a:endParaRPr lang="en-US" dirty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29488047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274</TotalTime>
  <Words>250</Words>
  <Application>Microsoft Office PowerPoint</Application>
  <PresentationFormat>On-screen Show (4:3)</PresentationFormat>
  <Paragraphs>60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How to find Easy GEs</vt:lpstr>
      <vt:lpstr>Motivation</vt:lpstr>
      <vt:lpstr>Exploration</vt:lpstr>
      <vt:lpstr>Modeling</vt:lpstr>
      <vt:lpstr>Results</vt:lpstr>
      <vt:lpstr>Further Research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Easy GEs</dc:title>
  <dc:creator>Tan Yi Zu</dc:creator>
  <cp:lastModifiedBy>Tan Yi Zu</cp:lastModifiedBy>
  <cp:revision>33</cp:revision>
  <dcterms:created xsi:type="dcterms:W3CDTF">2018-12-02T01:36:05Z</dcterms:created>
  <dcterms:modified xsi:type="dcterms:W3CDTF">2018-12-06T03:41:13Z</dcterms:modified>
</cp:coreProperties>
</file>