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837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0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4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04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3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23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0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93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8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7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10AF-F9B4-4E1A-954B-380C51C6E72A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328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510AF-F9B4-4E1A-954B-380C51C6E72A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A0E3A-C0E7-4387-89CF-38DF82DC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7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find Easy 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Yi Zu Tan</a:t>
            </a:r>
          </a:p>
          <a:p>
            <a:r>
              <a:rPr lang="en-US" dirty="0"/>
              <a:t>Krystal Xu</a:t>
            </a:r>
          </a:p>
        </p:txBody>
      </p:sp>
    </p:spTree>
    <p:extLst>
      <p:ext uri="{BB962C8B-B14F-4D97-AF65-F5344CB8AC3E}">
        <p14:creationId xmlns:p14="http://schemas.microsoft.com/office/powerpoint/2010/main" val="2824362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850" y="1486513"/>
            <a:ext cx="7886700" cy="2127824"/>
          </a:xfrm>
        </p:spPr>
        <p:txBody>
          <a:bodyPr>
            <a:normAutofit/>
          </a:bodyPr>
          <a:lstStyle/>
          <a:p>
            <a:r>
              <a:rPr lang="en-US" sz="2400" dirty="0"/>
              <a:t>Students want to get good grades for GEs</a:t>
            </a:r>
          </a:p>
          <a:p>
            <a:pPr lvl="1"/>
            <a:r>
              <a:rPr lang="en-US" sz="2000" dirty="0"/>
              <a:t>Good grades achieving a GPA of 4.0</a:t>
            </a:r>
          </a:p>
          <a:p>
            <a:r>
              <a:rPr lang="en-US" sz="2400" dirty="0"/>
              <a:t>Earlier studies use Course Difficulty as an indicator</a:t>
            </a:r>
          </a:p>
          <a:p>
            <a:pPr lvl="1"/>
            <a:r>
              <a:rPr lang="en-US" sz="2000" dirty="0"/>
              <a:t>Hence the term “easy GE”</a:t>
            </a:r>
          </a:p>
          <a:p>
            <a:r>
              <a:rPr lang="en-US" sz="2400" dirty="0"/>
              <a:t>But good grades are also determined by other factors</a:t>
            </a:r>
          </a:p>
        </p:txBody>
      </p:sp>
      <p:sp>
        <p:nvSpPr>
          <p:cNvPr id="4" name="Oval 3"/>
          <p:cNvSpPr/>
          <p:nvPr/>
        </p:nvSpPr>
        <p:spPr>
          <a:xfrm>
            <a:off x="5231065" y="539799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063585" y="3957729"/>
            <a:ext cx="182880" cy="1828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892161" y="539799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stCxn id="5" idx="4"/>
            <a:endCxn id="82" idx="0"/>
          </p:cNvCxnSpPr>
          <p:nvPr/>
        </p:nvCxnSpPr>
        <p:spPr>
          <a:xfrm>
            <a:off x="6155025" y="4140609"/>
            <a:ext cx="0" cy="6372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7"/>
            <a:endCxn id="82" idx="3"/>
          </p:cNvCxnSpPr>
          <p:nvPr/>
        </p:nvCxnSpPr>
        <p:spPr>
          <a:xfrm flipV="1">
            <a:off x="5387163" y="4933968"/>
            <a:ext cx="703204" cy="4908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1"/>
            <a:endCxn id="82" idx="5"/>
          </p:cNvCxnSpPr>
          <p:nvPr/>
        </p:nvCxnSpPr>
        <p:spPr>
          <a:xfrm flipH="1" flipV="1">
            <a:off x="6219683" y="4933968"/>
            <a:ext cx="699260" cy="4908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180366" y="5197049"/>
            <a:ext cx="1047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Professor Leniency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7183" y="5239768"/>
            <a:ext cx="968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Course Difficulty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75712" y="3614337"/>
            <a:ext cx="1860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Student Aptitude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0161" y="4981469"/>
            <a:ext cx="724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Grade</a:t>
            </a:r>
          </a:p>
        </p:txBody>
      </p:sp>
      <p:sp>
        <p:nvSpPr>
          <p:cNvPr id="57" name="Oval 56"/>
          <p:cNvSpPr/>
          <p:nvPr/>
        </p:nvSpPr>
        <p:spPr>
          <a:xfrm>
            <a:off x="6884835" y="4430763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7066937" y="4336890"/>
            <a:ext cx="1331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Term Quarter</a:t>
            </a:r>
          </a:p>
        </p:txBody>
      </p:sp>
      <p:cxnSp>
        <p:nvCxnSpPr>
          <p:cNvPr id="59" name="Straight Arrow Connector 58"/>
          <p:cNvCxnSpPr>
            <a:stCxn id="57" idx="1"/>
            <a:endCxn id="5" idx="6"/>
          </p:cNvCxnSpPr>
          <p:nvPr/>
        </p:nvCxnSpPr>
        <p:spPr>
          <a:xfrm flipH="1" flipV="1">
            <a:off x="6246465" y="4049169"/>
            <a:ext cx="665152" cy="408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57" idx="4"/>
            <a:endCxn id="7" idx="0"/>
          </p:cNvCxnSpPr>
          <p:nvPr/>
        </p:nvCxnSpPr>
        <p:spPr>
          <a:xfrm>
            <a:off x="6976275" y="4613643"/>
            <a:ext cx="7326" cy="7843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6063585" y="4777870"/>
            <a:ext cx="182880" cy="182880"/>
          </a:xfrm>
          <a:prstGeom prst="ellipse">
            <a:avLst/>
          </a:prstGeom>
          <a:solidFill>
            <a:srgbClr val="BDD7E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562231" y="4580269"/>
            <a:ext cx="182880" cy="182880"/>
          </a:xfrm>
          <a:prstGeom prst="ellipse">
            <a:avLst/>
          </a:prstGeom>
          <a:solidFill>
            <a:srgbClr val="BDD7E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761255" y="4500850"/>
            <a:ext cx="25619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What we want to predict</a:t>
            </a:r>
          </a:p>
        </p:txBody>
      </p:sp>
      <p:sp>
        <p:nvSpPr>
          <p:cNvPr id="91" name="Oval 90"/>
          <p:cNvSpPr/>
          <p:nvPr/>
        </p:nvSpPr>
        <p:spPr>
          <a:xfrm>
            <a:off x="6063585" y="593006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/>
          <p:cNvSpPr txBox="1"/>
          <p:nvPr/>
        </p:nvSpPr>
        <p:spPr>
          <a:xfrm>
            <a:off x="5543829" y="6066570"/>
            <a:ext cx="1222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</a:t>
            </a:r>
          </a:p>
        </p:txBody>
      </p:sp>
      <p:sp>
        <p:nvSpPr>
          <p:cNvPr id="93" name="Oval 92"/>
          <p:cNvSpPr/>
          <p:nvPr/>
        </p:nvSpPr>
        <p:spPr>
          <a:xfrm>
            <a:off x="578375" y="5163533"/>
            <a:ext cx="182880" cy="1828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Arrow Connector 93"/>
          <p:cNvCxnSpPr>
            <a:stCxn id="91" idx="7"/>
            <a:endCxn id="7" idx="3"/>
          </p:cNvCxnSpPr>
          <p:nvPr/>
        </p:nvCxnSpPr>
        <p:spPr>
          <a:xfrm flipV="1">
            <a:off x="6219683" y="5554095"/>
            <a:ext cx="699260" cy="402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91" idx="1"/>
            <a:endCxn id="4" idx="5"/>
          </p:cNvCxnSpPr>
          <p:nvPr/>
        </p:nvCxnSpPr>
        <p:spPr>
          <a:xfrm flipH="1" flipV="1">
            <a:off x="5387163" y="5554095"/>
            <a:ext cx="703204" cy="402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572684" y="487520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753055" y="4791021"/>
            <a:ext cx="2980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What we can find from our data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53055" y="5086225"/>
            <a:ext cx="32259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What we cannot find from our data</a:t>
            </a:r>
          </a:p>
        </p:txBody>
      </p:sp>
      <p:sp>
        <p:nvSpPr>
          <p:cNvPr id="118" name="Oval 117"/>
          <p:cNvSpPr/>
          <p:nvPr/>
        </p:nvSpPr>
        <p:spPr>
          <a:xfrm>
            <a:off x="5228053" y="4430763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/>
          <p:cNvSpPr txBox="1"/>
          <p:nvPr/>
        </p:nvSpPr>
        <p:spPr>
          <a:xfrm>
            <a:off x="4189783" y="4336890"/>
            <a:ext cx="10288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Class Size</a:t>
            </a:r>
          </a:p>
        </p:txBody>
      </p:sp>
      <p:cxnSp>
        <p:nvCxnSpPr>
          <p:cNvPr id="121" name="Straight Arrow Connector 120"/>
          <p:cNvCxnSpPr>
            <a:stCxn id="118" idx="7"/>
            <a:endCxn id="5" idx="2"/>
          </p:cNvCxnSpPr>
          <p:nvPr/>
        </p:nvCxnSpPr>
        <p:spPr>
          <a:xfrm flipV="1">
            <a:off x="5384151" y="4049169"/>
            <a:ext cx="679434" cy="408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>
            <a:stCxn id="118" idx="4"/>
            <a:endCxn id="4" idx="0"/>
          </p:cNvCxnSpPr>
          <p:nvPr/>
        </p:nvCxnSpPr>
        <p:spPr>
          <a:xfrm>
            <a:off x="5319493" y="4613643"/>
            <a:ext cx="3012" cy="7843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471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data from Bruinwalk.com</a:t>
            </a:r>
          </a:p>
          <a:p>
            <a:r>
              <a:rPr lang="en-US" dirty="0"/>
              <a:t>Used mean GPA as numeric indicator of</a:t>
            </a:r>
          </a:p>
          <a:p>
            <a:pPr lvl="1"/>
            <a:r>
              <a:rPr lang="en-US" dirty="0"/>
              <a:t>Professor Leniency</a:t>
            </a:r>
          </a:p>
          <a:p>
            <a:pPr lvl="1"/>
            <a:r>
              <a:rPr lang="en-US" dirty="0"/>
              <a:t>Course Difficulty</a:t>
            </a:r>
          </a:p>
          <a:p>
            <a:r>
              <a:rPr lang="en-US" dirty="0"/>
              <a:t>Important Variables</a:t>
            </a:r>
          </a:p>
          <a:p>
            <a:pPr lvl="1"/>
            <a:r>
              <a:rPr lang="en-US" dirty="0"/>
              <a:t>A professor’s mean GPA</a:t>
            </a:r>
          </a:p>
          <a:p>
            <a:pPr lvl="1"/>
            <a:r>
              <a:rPr lang="en-US" dirty="0"/>
              <a:t>A course’s mean GPA</a:t>
            </a:r>
          </a:p>
          <a:p>
            <a:pPr lvl="1"/>
            <a:r>
              <a:rPr lang="en-US" dirty="0"/>
              <a:t>Department</a:t>
            </a:r>
          </a:p>
          <a:p>
            <a:pPr lvl="1"/>
            <a:r>
              <a:rPr lang="en-US" dirty="0"/>
              <a:t>Term Quarter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039902"/>
            <a:ext cx="4000706" cy="313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114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0472"/>
            <a:ext cx="7886700" cy="4727448"/>
          </a:xfrm>
        </p:spPr>
        <p:txBody>
          <a:bodyPr>
            <a:normAutofit/>
          </a:bodyPr>
          <a:lstStyle/>
          <a:p>
            <a:r>
              <a:rPr lang="en-US" sz="2400" dirty="0"/>
              <a:t>Used % of 4.0 GPAs as outcome variable</a:t>
            </a:r>
          </a:p>
          <a:p>
            <a:pPr lvl="1"/>
            <a:r>
              <a:rPr lang="en-US" sz="2000" dirty="0"/>
              <a:t>If %</a:t>
            </a:r>
            <a:r>
              <a:rPr lang="zh-CN" altLang="en-US" sz="2000" dirty="0"/>
              <a:t> </a:t>
            </a:r>
            <a:r>
              <a:rPr lang="en-US" altLang="zh-CN" sz="2000" dirty="0"/>
              <a:t>4.0</a:t>
            </a:r>
            <a:r>
              <a:rPr lang="zh-CN" altLang="en-US" sz="2000" dirty="0"/>
              <a:t> </a:t>
            </a:r>
            <a:r>
              <a:rPr lang="en-US" altLang="zh-CN" sz="2000" dirty="0"/>
              <a:t>GPA</a:t>
            </a:r>
            <a:r>
              <a:rPr 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top</a:t>
            </a:r>
            <a:r>
              <a:rPr lang="en-US" sz="2000" dirty="0"/>
              <a:t> </a:t>
            </a:r>
            <a:r>
              <a:rPr lang="en-US" altLang="zh-CN" sz="2000" dirty="0"/>
              <a:t>25%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all</a:t>
            </a:r>
            <a:r>
              <a:rPr lang="zh-CN" altLang="en-US" sz="2000" dirty="0"/>
              <a:t> </a:t>
            </a:r>
            <a:r>
              <a:rPr lang="en-US" altLang="zh-CN" sz="2000" dirty="0"/>
              <a:t>GEs</a:t>
            </a:r>
            <a:r>
              <a:rPr lang="en-US" sz="2000" dirty="0"/>
              <a:t>, the course was “easy”</a:t>
            </a:r>
          </a:p>
          <a:p>
            <a:pPr lvl="1"/>
            <a:r>
              <a:rPr lang="en-US" sz="2000" dirty="0"/>
              <a:t>Otherwise, the course was “not easy”</a:t>
            </a:r>
          </a:p>
          <a:p>
            <a:r>
              <a:rPr lang="en-US" sz="2400" dirty="0"/>
              <a:t>Predictor Variables</a:t>
            </a:r>
          </a:p>
          <a:p>
            <a:pPr lvl="1"/>
            <a:r>
              <a:rPr lang="en-US" sz="2000" dirty="0"/>
              <a:t>Department</a:t>
            </a:r>
          </a:p>
          <a:p>
            <a:pPr lvl="1"/>
            <a:r>
              <a:rPr lang="en-US" sz="2000" dirty="0"/>
              <a:t>Professor Leniency</a:t>
            </a:r>
          </a:p>
          <a:p>
            <a:pPr lvl="1"/>
            <a:r>
              <a:rPr lang="en-US" sz="2000" dirty="0"/>
              <a:t>Course Difficulty</a:t>
            </a:r>
          </a:p>
          <a:p>
            <a:pPr lvl="1"/>
            <a:r>
              <a:rPr lang="en-US" sz="2000" dirty="0"/>
              <a:t>Term Quarter</a:t>
            </a:r>
          </a:p>
          <a:p>
            <a:pPr lvl="1"/>
            <a:r>
              <a:rPr lang="en-US" sz="2000" dirty="0"/>
              <a:t>Professor Frequency</a:t>
            </a:r>
          </a:p>
          <a:p>
            <a:pPr lvl="1"/>
            <a:r>
              <a:rPr lang="en-US" sz="2000" dirty="0"/>
              <a:t>Class Size</a:t>
            </a:r>
          </a:p>
          <a:p>
            <a:r>
              <a:rPr lang="en-US" sz="2400" dirty="0"/>
              <a:t>Performed supervised classification using Random Forest</a:t>
            </a:r>
          </a:p>
          <a:p>
            <a:pPr lvl="1"/>
            <a:r>
              <a:rPr lang="en-US" sz="2000" dirty="0"/>
              <a:t>Limited GE dataset to Foundations of Scientific Inquiry</a:t>
            </a:r>
          </a:p>
          <a:p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A572EA-8D07-3F48-A720-87D3B4129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328" y="2506532"/>
            <a:ext cx="3717215" cy="258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90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model correctly labeled 80.53% of test cases</a:t>
            </a:r>
          </a:p>
          <a:p>
            <a:pPr lvl="1"/>
            <a:r>
              <a:rPr lang="en-US" dirty="0"/>
              <a:t>Correctly labeled 90.12% of “non-easy” science GEs</a:t>
            </a:r>
          </a:p>
          <a:p>
            <a:pPr lvl="1"/>
            <a:r>
              <a:rPr lang="en-US" dirty="0"/>
              <a:t>Correctly labeled 53.16% of “easy” science GEs</a:t>
            </a:r>
          </a:p>
          <a:p>
            <a:r>
              <a:rPr lang="en-US"/>
              <a:t>Significance </a:t>
            </a:r>
            <a:r>
              <a:rPr lang="en-US" dirty="0"/>
              <a:t>scores revealed top 3 factors:</a:t>
            </a:r>
          </a:p>
          <a:p>
            <a:pPr lvl="1"/>
            <a:r>
              <a:rPr lang="en-US" dirty="0"/>
              <a:t>Professor Leniency</a:t>
            </a:r>
          </a:p>
          <a:p>
            <a:pPr lvl="1"/>
            <a:r>
              <a:rPr lang="en-US" dirty="0"/>
              <a:t>Course Difficulty</a:t>
            </a:r>
          </a:p>
          <a:p>
            <a:pPr lvl="1"/>
            <a:r>
              <a:rPr lang="en-US" dirty="0"/>
              <a:t>Class Size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1" y="4132626"/>
            <a:ext cx="3639312" cy="253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12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Expanding to include all GEs</a:t>
            </a:r>
          </a:p>
          <a:p>
            <a:r>
              <a:rPr lang="en-US" dirty="0"/>
              <a:t>Adding student characteristics to the model</a:t>
            </a:r>
          </a:p>
          <a:p>
            <a:pPr lvl="1"/>
            <a:r>
              <a:rPr lang="en-US" dirty="0"/>
              <a:t>Student major</a:t>
            </a:r>
          </a:p>
          <a:p>
            <a:pPr lvl="1"/>
            <a:r>
              <a:rPr lang="en-US" dirty="0"/>
              <a:t>Student GPA</a:t>
            </a:r>
          </a:p>
          <a:p>
            <a:pPr lvl="1"/>
            <a:r>
              <a:rPr lang="en-US" dirty="0"/>
              <a:t>Student race/gender</a:t>
            </a:r>
          </a:p>
          <a:p>
            <a:pPr lvl="1"/>
            <a:r>
              <a:rPr lang="en-US" dirty="0"/>
              <a:t>Student class unit load</a:t>
            </a:r>
          </a:p>
          <a:p>
            <a:r>
              <a:rPr lang="en-US" dirty="0"/>
              <a:t>Model selection by adding/dropping predictors</a:t>
            </a:r>
          </a:p>
          <a:p>
            <a:r>
              <a:rPr lang="en-US" dirty="0"/>
              <a:t>Verify causal relations between the predictors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804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317</TotalTime>
  <Words>258</Words>
  <Application>Microsoft Macintosh PowerPoint</Application>
  <PresentationFormat>On-screen Show (4:3)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宋体</vt:lpstr>
      <vt:lpstr>Arial</vt:lpstr>
      <vt:lpstr>Calibri</vt:lpstr>
      <vt:lpstr>Calibri Light</vt:lpstr>
      <vt:lpstr>Office Theme</vt:lpstr>
      <vt:lpstr>How to find Easy GEs</vt:lpstr>
      <vt:lpstr>Motivation</vt:lpstr>
      <vt:lpstr>Exploration</vt:lpstr>
      <vt:lpstr>Modeling</vt:lpstr>
      <vt:lpstr>Results</vt:lpstr>
      <vt:lpstr>Further Research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 GEs</dc:title>
  <dc:creator>Tan Yi Zu</dc:creator>
  <cp:lastModifiedBy>krystal xu</cp:lastModifiedBy>
  <cp:revision>35</cp:revision>
  <dcterms:created xsi:type="dcterms:W3CDTF">2018-12-02T01:36:05Z</dcterms:created>
  <dcterms:modified xsi:type="dcterms:W3CDTF">2018-12-06T21:17:29Z</dcterms:modified>
</cp:coreProperties>
</file>